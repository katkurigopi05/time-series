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523" r:id="rId3"/>
    <p:sldId id="587" r:id="rId4"/>
    <p:sldId id="613" r:id="rId5"/>
    <p:sldId id="602" r:id="rId6"/>
    <p:sldId id="616" r:id="rId7"/>
  </p:sldIdLst>
  <p:sldSz cx="9144000" cy="6858000" type="screen4x3"/>
  <p:notesSz cx="6858000" cy="91440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0000FF"/>
    <a:srgbClr val="A6F695"/>
    <a:srgbClr val="F6C28A"/>
    <a:srgbClr val="FF9933"/>
    <a:srgbClr val="FFB56D"/>
    <a:srgbClr val="FFC891"/>
    <a:srgbClr val="FFD7AF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36" autoAdjust="0"/>
    <p:restoredTop sz="95487" autoAdjust="0"/>
  </p:normalViewPr>
  <p:slideViewPr>
    <p:cSldViewPr>
      <p:cViewPr varScale="1">
        <p:scale>
          <a:sx n="84" d="100"/>
          <a:sy n="84" d="100"/>
        </p:scale>
        <p:origin x="1680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CC6BA9CC-133B-4D23-A8CE-568C780D28C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457200" y="3321050"/>
            <a:ext cx="5867400" cy="5135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notes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4E573E99-4EA7-4E3E-BE1E-9646E2F5947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9350" y="692150"/>
            <a:ext cx="4559300" cy="3416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C77FDB7-CCA9-4B4F-8FB7-F8AEF3E157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4B1D5E56-8331-47EE-B338-B3BEA0A99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 eaLnBrk="0" hangingPunct="0"/>
            <a:r>
              <a:rPr lang="en-US" altLang="en-US" sz="1000" i="1"/>
              <a:t>1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F6099F52-AF7A-475C-A970-68279671BC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8E92A066-B23A-4C38-A5FA-25B791DABD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3A283262-604E-42C6-94D6-88B6B0C9CD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7" name="Rectangle 7">
            <a:extLst>
              <a:ext uri="{FF2B5EF4-FFF2-40B4-BE49-F238E27FC236}">
                <a16:creationId xmlns:a16="http://schemas.microsoft.com/office/drawing/2014/main" id="{1FFF246E-203B-4C4D-936A-8C813A8AFA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 eaLnBrk="0" hangingPunct="0"/>
            <a:r>
              <a:rPr lang="en-US" altLang="en-US" sz="1000"/>
              <a:t>1</a:t>
            </a:r>
          </a:p>
        </p:txBody>
      </p:sp>
      <p:sp>
        <p:nvSpPr>
          <p:cNvPr id="5128" name="Rectangle 8">
            <a:extLst>
              <a:ext uri="{FF2B5EF4-FFF2-40B4-BE49-F238E27FC236}">
                <a16:creationId xmlns:a16="http://schemas.microsoft.com/office/drawing/2014/main" id="{62C2142E-5967-4A68-9494-8A84DFB485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9" name="Rectangle 9">
            <a:extLst>
              <a:ext uri="{FF2B5EF4-FFF2-40B4-BE49-F238E27FC236}">
                <a16:creationId xmlns:a16="http://schemas.microsoft.com/office/drawing/2014/main" id="{7B0F42FA-8B5F-49B7-B744-94FB75BD81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30" name="Rectangle 10">
            <a:extLst>
              <a:ext uri="{FF2B5EF4-FFF2-40B4-BE49-F238E27FC236}">
                <a16:creationId xmlns:a16="http://schemas.microsoft.com/office/drawing/2014/main" id="{48A9B9B6-D1CB-4E15-AE75-3059BCD421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131" name="Rectangle 11">
            <a:extLst>
              <a:ext uri="{FF2B5EF4-FFF2-40B4-BE49-F238E27FC236}">
                <a16:creationId xmlns:a16="http://schemas.microsoft.com/office/drawing/2014/main" id="{7D6E8AD5-34FE-4A73-B6E6-324B8C5086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0" hangingPunct="0"/>
            <a:r>
              <a:rPr lang="en-US" altLang="en-US" dirty="0"/>
              <a:t>Developed by Dr. Zinovy Radovilsky, Professor of Management</a:t>
            </a:r>
          </a:p>
          <a:p>
            <a:pPr eaLnBrk="0" hangingPunct="0"/>
            <a:r>
              <a:rPr lang="en-US" altLang="en-US" dirty="0"/>
              <a:t>California State University, East Bay</a:t>
            </a:r>
          </a:p>
          <a:p>
            <a:pPr eaLnBrk="0" hangingPunct="0"/>
            <a:r>
              <a:rPr lang="en-US" altLang="en-US"/>
              <a:t>@All rights reserved</a:t>
            </a:r>
          </a:p>
          <a:p>
            <a:pPr eaLnBrk="0" hangingPunct="0"/>
            <a:endParaRPr lang="en-US" altLang="en-US" dirty="0"/>
          </a:p>
          <a:p>
            <a:pPr eaLnBrk="0" hangingPunct="0"/>
            <a:endParaRPr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4" name="Rectangle 2">
            <a:extLst>
              <a:ext uri="{FF2B5EF4-FFF2-40B4-BE49-F238E27FC236}">
                <a16:creationId xmlns:a16="http://schemas.microsoft.com/office/drawing/2014/main" id="{3410BE66-2BED-4E1E-B5CB-1AC654530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6115" name="Rectangle 3">
            <a:extLst>
              <a:ext uri="{FF2B5EF4-FFF2-40B4-BE49-F238E27FC236}">
                <a16:creationId xmlns:a16="http://schemas.microsoft.com/office/drawing/2014/main" id="{064BC54A-FF43-4701-971D-258187712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 eaLnBrk="0" hangingPunct="0"/>
            <a:r>
              <a:rPr lang="en-US" altLang="en-US" sz="1000" i="1"/>
              <a:t>2</a:t>
            </a:r>
          </a:p>
        </p:txBody>
      </p:sp>
      <p:sp>
        <p:nvSpPr>
          <p:cNvPr id="346116" name="Rectangle 4">
            <a:extLst>
              <a:ext uri="{FF2B5EF4-FFF2-40B4-BE49-F238E27FC236}">
                <a16:creationId xmlns:a16="http://schemas.microsoft.com/office/drawing/2014/main" id="{A4867A0A-425D-4728-852F-CAD62B8E62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6117" name="Rectangle 5">
            <a:extLst>
              <a:ext uri="{FF2B5EF4-FFF2-40B4-BE49-F238E27FC236}">
                <a16:creationId xmlns:a16="http://schemas.microsoft.com/office/drawing/2014/main" id="{8E515C64-B7B0-4266-AA50-91CB9E4565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6118" name="Rectangle 6">
            <a:extLst>
              <a:ext uri="{FF2B5EF4-FFF2-40B4-BE49-F238E27FC236}">
                <a16:creationId xmlns:a16="http://schemas.microsoft.com/office/drawing/2014/main" id="{319AE6DD-ED6E-4077-95AC-CB40C4DF1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6119" name="Rectangle 7">
            <a:extLst>
              <a:ext uri="{FF2B5EF4-FFF2-40B4-BE49-F238E27FC236}">
                <a16:creationId xmlns:a16="http://schemas.microsoft.com/office/drawing/2014/main" id="{9B171C84-1A54-4F09-AD5B-D70E2D771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 eaLnBrk="0" hangingPunct="0"/>
            <a:r>
              <a:rPr lang="en-US" altLang="en-US" sz="1000"/>
              <a:t>2</a:t>
            </a:r>
          </a:p>
        </p:txBody>
      </p:sp>
      <p:sp>
        <p:nvSpPr>
          <p:cNvPr id="346120" name="Rectangle 8">
            <a:extLst>
              <a:ext uri="{FF2B5EF4-FFF2-40B4-BE49-F238E27FC236}">
                <a16:creationId xmlns:a16="http://schemas.microsoft.com/office/drawing/2014/main" id="{732EDCE8-AE19-4890-B784-6B84F7F85B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6121" name="Rectangle 9">
            <a:extLst>
              <a:ext uri="{FF2B5EF4-FFF2-40B4-BE49-F238E27FC236}">
                <a16:creationId xmlns:a16="http://schemas.microsoft.com/office/drawing/2014/main" id="{2FB7AE73-AC44-462A-85B4-2BC5407851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6122" name="Rectangle 10">
            <a:extLst>
              <a:ext uri="{FF2B5EF4-FFF2-40B4-BE49-F238E27FC236}">
                <a16:creationId xmlns:a16="http://schemas.microsoft.com/office/drawing/2014/main" id="{DA18371F-1DA3-47EF-88D4-3FDE99D76E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3321050"/>
            <a:ext cx="5867400" cy="51355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altLang="en-US"/>
          </a:p>
        </p:txBody>
      </p:sp>
      <p:sp>
        <p:nvSpPr>
          <p:cNvPr id="346123" name="Rectangle 11">
            <a:extLst>
              <a:ext uri="{FF2B5EF4-FFF2-40B4-BE49-F238E27FC236}">
                <a16:creationId xmlns:a16="http://schemas.microsoft.com/office/drawing/2014/main" id="{DA689B9D-4DDB-445C-B844-81BCFB05DB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7948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239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65BE4-2A31-4854-AC09-9F79E91C4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324306-D677-4437-A408-FCBB1CE48B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849570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17220-45D5-475D-8BE7-70B428A31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4B63F-9DA6-4CAA-8AA0-41D8D1E3D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70589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1E807-99C5-4830-A279-E183C0962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7E820D-0448-466B-9CA0-250D48D4E1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29389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8A1C7-6300-43AB-9A52-5D35BFF3B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F10ED-E673-4363-A625-2D141AECBD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8600" y="1524000"/>
            <a:ext cx="4229100" cy="5029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12C698-55B9-4E01-BB31-8A77A0FE78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10100" y="1524000"/>
            <a:ext cx="4229100" cy="5029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71086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9ADAD-BDED-4CCE-85C6-C5BEDEA18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E4CBC7-A65D-4FA9-B4E2-A5DC69CB37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8BEF5-79C8-4D62-A189-8797ED54E3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DD0068-2447-40EB-B28E-FBDAC360E0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AC21B9-6645-42FA-9495-A7134E205B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63658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48851-5607-4040-94F8-EBBFF2957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75685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2794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AE186-412E-4422-8A33-C39D18783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97EDD-0417-447D-8EC6-27A1E1C3E4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78A988-2AEF-47A2-B626-DE0374A002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41249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87F26-394E-4351-BC47-F5EDC0012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B7D4C7-0229-4060-8E9E-500EEA8B1E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34EC00-EF8B-4542-87D8-E390C7451F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43169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F3FAD-29B1-4012-B515-8ED5A3FB9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3C4DE4-6364-49D3-8CD5-585907832A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0767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F46715-4DE8-4F44-B601-BDE67546E5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69100" y="150813"/>
            <a:ext cx="2195513" cy="64023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544B56-7391-488F-BCFE-A92B1069A1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79388" y="150813"/>
            <a:ext cx="6437312" cy="640238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55040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59E4354-CED9-4549-91FA-08ED6E48A7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150813"/>
            <a:ext cx="8785225" cy="1131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15175C1-CD4D-41AD-9E99-B005ED01D7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524000"/>
            <a:ext cx="86106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619E803-0D9D-4093-A8FF-717A62A2F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52550"/>
            <a:ext cx="9142413" cy="74613"/>
          </a:xfrm>
          <a:prstGeom prst="rect">
            <a:avLst/>
          </a:prstGeom>
          <a:gradFill rotWithShape="0">
            <a:gsLst>
              <a:gs pos="0">
                <a:srgbClr val="9234DB"/>
              </a:gs>
              <a:gs pos="50000">
                <a:srgbClr val="9234DB">
                  <a:gamma/>
                  <a:shade val="29804"/>
                  <a:invGamma/>
                </a:srgbClr>
              </a:gs>
              <a:gs pos="100000">
                <a:srgbClr val="9234DB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6D16844-A77E-48E5-9E8D-6BAACF720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75" y="6554788"/>
            <a:ext cx="1901825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200" b="1" i="1">
                <a:latin typeface="Book Antiqua" panose="02040602050305030304" pitchFamily="18" charset="0"/>
              </a:rPr>
              <a:t>Dr. Z. Radovilsky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A2492466-CB9A-4DCA-8ABC-F6AC15F1316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763000" y="6553200"/>
            <a:ext cx="381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fld id="{78BAC971-ED24-4D29-A0B8-7650E2781854}" type="slidenum">
              <a:rPr lang="en-US" altLang="en-US" sz="1000"/>
              <a:pPr>
                <a:spcBef>
                  <a:spcPct val="50000"/>
                </a:spcBef>
              </a:pPr>
              <a:t>‹#›</a:t>
            </a:fld>
            <a:endParaRPr lang="en-US" altLang="en-US"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anose="02020603050405020304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anose="02020603050405020304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anose="02020603050405020304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anose="02020603050405020304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n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bg2"/>
        </a:buClr>
        <a:buFont typeface="Symbol" panose="05050102010706020507" pitchFamily="18" charset="2"/>
        <a:buChar char="·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08585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»"/>
        <a:defRPr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42875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62000"/>
        <a:buFont typeface="Monotype Sorts" pitchFamily="2" charset="2"/>
        <a:buChar char="u"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177165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.bin"/><Relationship Id="rId4" Type="http://schemas.openxmlformats.org/officeDocument/2006/relationships/image" Target="../media/image1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shade val="100000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1C826EA-319D-482D-B56D-6903F67DC7D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52400" y="228600"/>
            <a:ext cx="8686800" cy="2057400"/>
          </a:xfrm>
          <a:noFill/>
          <a:ln/>
        </p:spPr>
        <p:txBody>
          <a:bodyPr/>
          <a:lstStyle/>
          <a:p>
            <a:pPr eaLnBrk="0" hangingPunct="0"/>
            <a:r>
              <a:rPr lang="en-US" altLang="en-US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California State University, East Bay</a:t>
            </a:r>
            <a:br>
              <a:rPr lang="en-US" altLang="en-US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altLang="en-US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College of Business and Economics</a:t>
            </a:r>
            <a:br>
              <a:rPr lang="en-US" altLang="en-US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br>
              <a:rPr lang="en-US" altLang="en-US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altLang="en-US" sz="3200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BAN 673 Time Series Analytics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806A351A-5FD1-4AB8-8EF8-97010594F70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76200" y="2728119"/>
            <a:ext cx="8610600" cy="929481"/>
          </a:xfrm>
          <a:noFill/>
          <a:ln/>
        </p:spPr>
        <p:txBody>
          <a:bodyPr/>
          <a:lstStyle/>
          <a:p>
            <a:pPr marL="342900" indent="-342900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i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Conclusion: Best Models for Forecasting Amtrak Ridership</a:t>
            </a:r>
          </a:p>
        </p:txBody>
      </p:sp>
      <p:sp>
        <p:nvSpPr>
          <p:cNvPr id="4125" name="Rectangle 29">
            <a:extLst>
              <a:ext uri="{FF2B5EF4-FFF2-40B4-BE49-F238E27FC236}">
                <a16:creationId xmlns:a16="http://schemas.microsoft.com/office/drawing/2014/main" id="{F03E155B-B795-4EDD-B0D1-E1C71E3BA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5410200"/>
            <a:ext cx="27511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Dr. Z. Radovilsky</a:t>
            </a:r>
          </a:p>
        </p:txBody>
      </p:sp>
      <p:sp>
        <p:nvSpPr>
          <p:cNvPr id="4286" name="Rectangle 190">
            <a:extLst>
              <a:ext uri="{FF2B5EF4-FFF2-40B4-BE49-F238E27FC236}">
                <a16:creationId xmlns:a16="http://schemas.microsoft.com/office/drawing/2014/main" id="{7A374570-F37F-4A86-B51F-874273F1B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886200"/>
            <a:ext cx="3352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3200" b="1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Lecture Materials</a:t>
            </a:r>
          </a:p>
        </p:txBody>
      </p:sp>
      <p:pic>
        <p:nvPicPr>
          <p:cNvPr id="4291" name="Picture 195" descr="bd07073_">
            <a:extLst>
              <a:ext uri="{FF2B5EF4-FFF2-40B4-BE49-F238E27FC236}">
                <a16:creationId xmlns:a16="http://schemas.microsoft.com/office/drawing/2014/main" id="{852481B7-CF6E-4C00-8D91-8A4216A440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810000"/>
            <a:ext cx="1797050" cy="1527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292" name="Object 196">
            <a:extLst>
              <a:ext uri="{FF2B5EF4-FFF2-40B4-BE49-F238E27FC236}">
                <a16:creationId xmlns:a16="http://schemas.microsoft.com/office/drawing/2014/main" id="{9C4B40E9-F1FE-47A5-859D-8C85881758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24600" y="3733800"/>
          <a:ext cx="2133600" cy="149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5" imgW="761744" imgH="540724" progId="MS_ClipArt_Gallery.5">
                  <p:embed/>
                </p:oleObj>
              </mc:Choice>
              <mc:Fallback>
                <p:oleObj name="Clip" r:id="rId5" imgW="761744" imgH="540724" progId="MS_ClipArt_Gallery.5">
                  <p:embed/>
                  <p:pic>
                    <p:nvPicPr>
                      <p:cNvPr id="0" name="Object 1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3733800"/>
                        <a:ext cx="2133600" cy="1495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 dir="r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Rectangle 2">
            <a:extLst>
              <a:ext uri="{FF2B5EF4-FFF2-40B4-BE49-F238E27FC236}">
                <a16:creationId xmlns:a16="http://schemas.microsoft.com/office/drawing/2014/main" id="{70963663-03FC-48FC-B4ED-FBE75772A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5091" name="Rectangle 3">
            <a:extLst>
              <a:ext uri="{FF2B5EF4-FFF2-40B4-BE49-F238E27FC236}">
                <a16:creationId xmlns:a16="http://schemas.microsoft.com/office/drawing/2014/main" id="{5325D5E8-7890-4835-B221-8D8B3F4B10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5092" name="Rectangle 4">
            <a:extLst>
              <a:ext uri="{FF2B5EF4-FFF2-40B4-BE49-F238E27FC236}">
                <a16:creationId xmlns:a16="http://schemas.microsoft.com/office/drawing/2014/main" id="{70A175EB-DB40-4C1B-9E31-5892D6DAAA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5093" name="Rectangle 5">
            <a:extLst>
              <a:ext uri="{FF2B5EF4-FFF2-40B4-BE49-F238E27FC236}">
                <a16:creationId xmlns:a16="http://schemas.microsoft.com/office/drawing/2014/main" id="{288E5095-56A7-430F-A882-7435F7543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7413" y="6399213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r" eaLnBrk="0" hangingPunct="0"/>
            <a:endParaRPr lang="en-US" altLang="en-US" sz="1000"/>
          </a:p>
        </p:txBody>
      </p:sp>
      <p:sp>
        <p:nvSpPr>
          <p:cNvPr id="345094" name="Rectangle 6">
            <a:extLst>
              <a:ext uri="{FF2B5EF4-FFF2-40B4-BE49-F238E27FC236}">
                <a16:creationId xmlns:a16="http://schemas.microsoft.com/office/drawing/2014/main" id="{C0792BBD-BBF6-4A2E-ADE5-416080F6A4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5095" name="Rectangle 7">
            <a:extLst>
              <a:ext uri="{FF2B5EF4-FFF2-40B4-BE49-F238E27FC236}">
                <a16:creationId xmlns:a16="http://schemas.microsoft.com/office/drawing/2014/main" id="{8331516F-C0C2-4AA7-9C86-5FBD9AB741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388" y="227013"/>
            <a:ext cx="8785225" cy="1131887"/>
          </a:xfrm>
          <a:noFill/>
          <a:ln/>
        </p:spPr>
        <p:txBody>
          <a:bodyPr/>
          <a:lstStyle/>
          <a:p>
            <a:pPr eaLnBrk="0" hangingPunct="0"/>
            <a:r>
              <a:rPr lang="en-US" altLang="en-US" i="1" dirty="0">
                <a:solidFill>
                  <a:schemeClr val="accent1"/>
                </a:solidFill>
              </a:rPr>
              <a:t>Lecture Objectives</a:t>
            </a:r>
            <a:endParaRPr lang="en-US" altLang="en-US" dirty="0">
              <a:solidFill>
                <a:schemeClr val="accent1"/>
              </a:solidFill>
            </a:endParaRPr>
          </a:p>
        </p:txBody>
      </p:sp>
      <p:sp>
        <p:nvSpPr>
          <p:cNvPr id="345096" name="Rectangle 8">
            <a:extLst>
              <a:ext uri="{FF2B5EF4-FFF2-40B4-BE49-F238E27FC236}">
                <a16:creationId xmlns:a16="http://schemas.microsoft.com/office/drawing/2014/main" id="{C723C3FF-29F5-46A7-97E0-76DED44CEC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7" y="1522413"/>
            <a:ext cx="8659813" cy="5335587"/>
          </a:xfrm>
          <a:noFill/>
          <a:ln/>
        </p:spPr>
        <p:txBody>
          <a:bodyPr/>
          <a:lstStyle/>
          <a:p>
            <a:r>
              <a:rPr lang="en-US" altLang="en-US" dirty="0">
                <a:cs typeface="Times New Roman" panose="02020603050405020304" pitchFamily="18" charset="0"/>
              </a:rPr>
              <a:t>Present four best models identified for forecasting Amtrak Ridership based on 1991-2018 data set</a:t>
            </a:r>
          </a:p>
          <a:p>
            <a:r>
              <a:rPr lang="en-US" altLang="en-US" dirty="0">
                <a:cs typeface="Times New Roman" panose="02020603050405020304" pitchFamily="18" charset="0"/>
              </a:rPr>
              <a:t>Compare models’ accuracy performance measures</a:t>
            </a:r>
          </a:p>
          <a:p>
            <a:r>
              <a:rPr lang="en-US" altLang="en-US" dirty="0">
                <a:cs typeface="Times New Roman" panose="02020603050405020304" pitchFamily="18" charset="0"/>
              </a:rPr>
              <a:t>Identify time series data set for 2019</a:t>
            </a:r>
          </a:p>
          <a:p>
            <a:r>
              <a:rPr lang="en-US" altLang="en-US" dirty="0">
                <a:cs typeface="Times New Roman" panose="02020603050405020304" pitchFamily="18" charset="0"/>
              </a:rPr>
              <a:t>Forecast ridership in 2019 using the four best models</a:t>
            </a:r>
          </a:p>
          <a:p>
            <a:r>
              <a:rPr lang="en-US" altLang="en-US" dirty="0">
                <a:cs typeface="Times New Roman" panose="02020603050405020304" pitchFamily="18" charset="0"/>
              </a:rPr>
              <a:t>Compare models’ accuracy performance measures in 2019</a:t>
            </a:r>
          </a:p>
          <a:p>
            <a:pPr algn="just">
              <a:buFont typeface="Wingdings" panose="05000000000000000000" pitchFamily="2" charset="2"/>
              <a:buNone/>
            </a:pPr>
            <a:endParaRPr lang="en-US" altLang="en-US" dirty="0"/>
          </a:p>
          <a:p>
            <a:pPr eaLnBrk="0" hangingPunct="0">
              <a:spcAft>
                <a:spcPct val="90000"/>
              </a:spcAft>
              <a:buFont typeface="Wingdings" panose="05000000000000000000" pitchFamily="2" charset="2"/>
              <a:buNone/>
            </a:pPr>
            <a:endParaRPr lang="en-US" altLang="en-US" dirty="0"/>
          </a:p>
        </p:txBody>
      </p:sp>
      <p:pic>
        <p:nvPicPr>
          <p:cNvPr id="345097" name="Picture 9" descr="AG00059_">
            <a:extLst>
              <a:ext uri="{FF2B5EF4-FFF2-40B4-BE49-F238E27FC236}">
                <a16:creationId xmlns:a16="http://schemas.microsoft.com/office/drawing/2014/main" id="{C289DFB7-13B9-42F5-BF9E-FE4F7EC71F7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5318760"/>
            <a:ext cx="1371600" cy="1348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pull dir="r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 Best Models for Forecasting Amtrak Ridership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447800"/>
            <a:ext cx="8686800" cy="4876800"/>
          </a:xfrm>
        </p:spPr>
        <p:txBody>
          <a:bodyPr/>
          <a:lstStyle/>
          <a:p>
            <a:r>
              <a:rPr lang="en-US" sz="2000" dirty="0"/>
              <a:t>Based on utilizing various time series forecasting methods, </a:t>
            </a:r>
            <a:r>
              <a:rPr lang="en-US" sz="2000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four best time series models </a:t>
            </a:r>
            <a:r>
              <a:rPr lang="en-US" sz="2000" dirty="0"/>
              <a:t>were identified:</a:t>
            </a:r>
          </a:p>
          <a:p>
            <a:r>
              <a:rPr lang="en-US" sz="2000" dirty="0"/>
              <a:t>Moving Average (Trailing MA)</a:t>
            </a:r>
          </a:p>
          <a:p>
            <a:pPr lvl="1"/>
            <a:r>
              <a:rPr lang="en-US" sz="1800" b="1" i="1" dirty="0">
                <a:solidFill>
                  <a:srgbClr val="0000FF"/>
                </a:solidFill>
              </a:rPr>
              <a:t>Two-Level Model: Regression with Linear Trend and Seasonality + Trailing MA for Regression Residuals</a:t>
            </a:r>
          </a:p>
          <a:p>
            <a:r>
              <a:rPr lang="en-US" sz="2000" dirty="0"/>
              <a:t>Exponential Smoothing </a:t>
            </a:r>
            <a:r>
              <a:rPr lang="en-US" sz="2000" b="1" dirty="0"/>
              <a:t>    </a:t>
            </a:r>
            <a:endParaRPr lang="en-US" sz="2000" dirty="0"/>
          </a:p>
          <a:p>
            <a:pPr lvl="1"/>
            <a:r>
              <a:rPr lang="en-US" sz="1800" b="1" i="1" dirty="0">
                <a:solidFill>
                  <a:srgbClr val="0000FF"/>
                </a:solidFill>
              </a:rPr>
              <a:t>Holt-Winter’s Model with Automatic Selection of Model Options and Parameters</a:t>
            </a:r>
          </a:p>
          <a:p>
            <a:r>
              <a:rPr lang="en-US" sz="2000" b="1" dirty="0"/>
              <a:t>Autoregressive Models</a:t>
            </a:r>
          </a:p>
          <a:p>
            <a:pPr lvl="1"/>
            <a:r>
              <a:rPr lang="en-US" sz="1800" i="1" dirty="0">
                <a:solidFill>
                  <a:srgbClr val="0000FF"/>
                </a:solidFill>
              </a:rPr>
              <a:t>Two-Level Model: Regression with Linear Trend and Seasonality + AR(1) for Regression Residuals</a:t>
            </a:r>
          </a:p>
          <a:p>
            <a:r>
              <a:rPr lang="en-US" sz="2000" b="1" dirty="0"/>
              <a:t>ARIMA Models </a:t>
            </a:r>
          </a:p>
          <a:p>
            <a:pPr lvl="1"/>
            <a:r>
              <a:rPr lang="en-US" sz="1800" b="1" i="1" dirty="0">
                <a:solidFill>
                  <a:srgbClr val="0000FF"/>
                </a:solidFill>
              </a:rPr>
              <a:t>Auto ARIMA Model </a:t>
            </a:r>
          </a:p>
        </p:txBody>
      </p:sp>
    </p:spTree>
    <p:extLst>
      <p:ext uri="{BB962C8B-B14F-4D97-AF65-F5344CB8AC3E}">
        <p14:creationId xmlns:p14="http://schemas.microsoft.com/office/powerpoint/2010/main" val="3223885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6" name="Rectangle 2">
            <a:extLst>
              <a:ext uri="{FF2B5EF4-FFF2-40B4-BE49-F238E27FC236}">
                <a16:creationId xmlns:a16="http://schemas.microsoft.com/office/drawing/2014/main" id="{6D749A56-7736-4255-810F-5BEBB77F3E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150813"/>
            <a:ext cx="8888413" cy="1131887"/>
          </a:xfrm>
        </p:spPr>
        <p:txBody>
          <a:bodyPr/>
          <a:lstStyle/>
          <a:p>
            <a:r>
              <a:rPr lang="en-US" altLang="en-US" dirty="0"/>
              <a:t>Compare Performance Measures of Forecasting Models for Amtrak Ridership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2CDD09-FD4C-4581-ADCA-7B2A0401AB79}"/>
              </a:ext>
            </a:extLst>
          </p:cNvPr>
          <p:cNvSpPr/>
          <p:nvPr/>
        </p:nvSpPr>
        <p:spPr>
          <a:xfrm>
            <a:off x="1257300" y="1524000"/>
            <a:ext cx="6134100" cy="4478149"/>
          </a:xfrm>
          <a:prstGeom prst="rect">
            <a:avLst/>
          </a:prstGeom>
          <a:ln>
            <a:solidFill>
              <a:srgbClr val="FFFF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500" b="1" i="1" dirty="0">
                <a:solidFill>
                  <a:srgbClr val="0000FF"/>
                </a:solidFill>
              </a:rPr>
              <a:t>Two-Level Model (Regression with Linear Trend and Seasonality </a:t>
            </a:r>
          </a:p>
          <a:p>
            <a:pPr algn="ctr"/>
            <a:r>
              <a:rPr lang="en-US" sz="1500" b="1" i="1" dirty="0">
                <a:solidFill>
                  <a:srgbClr val="0000FF"/>
                </a:solidFill>
              </a:rPr>
              <a:t>+ Trailing MA for Regression Residuals)</a:t>
            </a:r>
          </a:p>
          <a:p>
            <a:r>
              <a:rPr lang="en-US" sz="1500" b="1" dirty="0"/>
              <a:t>               ME      RMSE      MAE     MPE   MAPE   ACF1   Theil's U</a:t>
            </a:r>
          </a:p>
          <a:p>
            <a:r>
              <a:rPr lang="en-US" sz="1500" b="1" dirty="0"/>
              <a:t>Test set -1.557    </a:t>
            </a:r>
            <a:r>
              <a:rPr lang="en-US" sz="1500" b="1" dirty="0">
                <a:highlight>
                  <a:srgbClr val="FFFF00"/>
                </a:highlight>
              </a:rPr>
              <a:t>59.443</a:t>
            </a:r>
            <a:r>
              <a:rPr lang="en-US" sz="1500" b="1" dirty="0"/>
              <a:t>      46.529  -0.15     </a:t>
            </a:r>
            <a:r>
              <a:rPr lang="en-US" sz="1500" b="1" dirty="0">
                <a:highlight>
                  <a:srgbClr val="FFFF00"/>
                </a:highlight>
              </a:rPr>
              <a:t>2.211</a:t>
            </a:r>
            <a:r>
              <a:rPr lang="en-US" sz="1500" b="1" dirty="0"/>
              <a:t>      0.259    0.302</a:t>
            </a:r>
          </a:p>
          <a:p>
            <a:endParaRPr lang="en-US" sz="1500" dirty="0"/>
          </a:p>
          <a:p>
            <a:pPr algn="ctr"/>
            <a:r>
              <a:rPr lang="en-US" sz="1500" b="1" i="1" dirty="0">
                <a:solidFill>
                  <a:srgbClr val="0000FF"/>
                </a:solidFill>
              </a:rPr>
              <a:t>Holt-Winter’s Model with Automated Selection of Model Options and Parameters</a:t>
            </a:r>
          </a:p>
          <a:p>
            <a:r>
              <a:rPr lang="en-US" sz="1500" b="1" dirty="0"/>
              <a:t>               ME      RMSE      MAE     MPE   MAPE    ACF1   Theil's U</a:t>
            </a:r>
          </a:p>
          <a:p>
            <a:r>
              <a:rPr lang="en-US" sz="1500" b="1" dirty="0"/>
              <a:t>Test set   5.022   68.419      54.027    0.147   2.549     -0.022     0.342</a:t>
            </a:r>
          </a:p>
          <a:p>
            <a:endParaRPr lang="en-US" sz="1500" b="1" dirty="0"/>
          </a:p>
          <a:p>
            <a:pPr algn="ctr"/>
            <a:r>
              <a:rPr lang="en-US" sz="1500" b="1" i="1" dirty="0">
                <a:solidFill>
                  <a:srgbClr val="0000FF"/>
                </a:solidFill>
              </a:rPr>
              <a:t>Two-Level Model (Regression with Linear Trend and Seasonality </a:t>
            </a:r>
          </a:p>
          <a:p>
            <a:pPr algn="ctr"/>
            <a:r>
              <a:rPr lang="en-US" sz="1500" b="1" i="1" dirty="0">
                <a:solidFill>
                  <a:srgbClr val="0000FF"/>
                </a:solidFill>
              </a:rPr>
              <a:t>+ AR(1) for Regression Residuals)</a:t>
            </a:r>
          </a:p>
          <a:p>
            <a:r>
              <a:rPr lang="en-US" sz="1500" b="1" dirty="0"/>
              <a:t>                ME     RMSE       MAE     MPE   MAPE   ACF1   Theil's U</a:t>
            </a:r>
          </a:p>
          <a:p>
            <a:r>
              <a:rPr lang="en-US" sz="1500" b="1" dirty="0"/>
              <a:t>Test set </a:t>
            </a:r>
            <a:r>
              <a:rPr lang="en-US" altLang="en-US" sz="1500" b="1" dirty="0">
                <a:solidFill>
                  <a:srgbClr val="000000"/>
                </a:solidFill>
                <a:latin typeface="+mn-lt"/>
              </a:rPr>
              <a:t>-1.512    76.267       57.927  -0.193   2.742    -0.185    0.384	</a:t>
            </a:r>
            <a:endParaRPr lang="en-US" sz="1500" b="1" i="1" dirty="0">
              <a:solidFill>
                <a:srgbClr val="0000FF"/>
              </a:solidFill>
            </a:endParaRPr>
          </a:p>
          <a:p>
            <a:endParaRPr lang="en-US" sz="1500" b="1" i="1" dirty="0">
              <a:solidFill>
                <a:srgbClr val="0000FF"/>
              </a:solidFill>
            </a:endParaRPr>
          </a:p>
          <a:p>
            <a:pPr algn="ctr"/>
            <a:r>
              <a:rPr lang="en-US" sz="1500" b="1" i="1" dirty="0">
                <a:solidFill>
                  <a:srgbClr val="0000FF"/>
                </a:solidFill>
              </a:rPr>
              <a:t>Auto ARIMA Model </a:t>
            </a:r>
          </a:p>
          <a:p>
            <a:r>
              <a:rPr lang="en-US" sz="1500" b="1" i="1" dirty="0">
                <a:solidFill>
                  <a:srgbClr val="0000FF"/>
                </a:solidFill>
              </a:rPr>
              <a:t>                </a:t>
            </a:r>
            <a:r>
              <a:rPr lang="en-US" sz="1500" b="1" dirty="0"/>
              <a:t>ME      RMSE      MAE     MPE   MAPE   ACF1   Theil's U</a:t>
            </a:r>
          </a:p>
          <a:p>
            <a:r>
              <a:rPr lang="en-US" sz="1500" b="1" dirty="0"/>
              <a:t>Test set  -0.569    68.553      53.45    -0.176   2.535    -0.002     0.347</a:t>
            </a:r>
          </a:p>
          <a:p>
            <a:endParaRPr lang="en-US" sz="1500" b="1" i="1" dirty="0">
              <a:solidFill>
                <a:srgbClr val="0000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730283-A58D-23C2-F4E2-AEC13997E207}"/>
              </a:ext>
            </a:extLst>
          </p:cNvPr>
          <p:cNvSpPr/>
          <p:nvPr/>
        </p:nvSpPr>
        <p:spPr bwMode="auto">
          <a:xfrm>
            <a:off x="1295400" y="1752600"/>
            <a:ext cx="5638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0ADE1E-DA0F-35DA-78D2-DDE7CFE48F48}"/>
              </a:ext>
            </a:extLst>
          </p:cNvPr>
          <p:cNvSpPr/>
          <p:nvPr/>
        </p:nvSpPr>
        <p:spPr bwMode="auto">
          <a:xfrm>
            <a:off x="9296400" y="3429000"/>
            <a:ext cx="9144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B5D219-5A32-A1CA-93F8-B12C15D806CB}"/>
              </a:ext>
            </a:extLst>
          </p:cNvPr>
          <p:cNvSpPr/>
          <p:nvPr/>
        </p:nvSpPr>
        <p:spPr bwMode="auto">
          <a:xfrm>
            <a:off x="1295400" y="1676400"/>
            <a:ext cx="5715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7049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Amtrak Ridership: Historical Data Set for 2019 and Time Series Forecasting for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447800"/>
            <a:ext cx="8686800" cy="5410200"/>
          </a:xfrm>
        </p:spPr>
        <p:txBody>
          <a:bodyPr/>
          <a:lstStyle/>
          <a:p>
            <a:pPr marL="0" indent="0">
              <a:buNone/>
            </a:pPr>
            <a:r>
              <a:rPr lang="en-US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endParaRPr lang="en-US" sz="2000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Forecast Amtrak ridership using </a:t>
            </a:r>
            <a:r>
              <a:rPr lang="en-US" sz="2000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four best time series models </a:t>
            </a:r>
            <a:r>
              <a:rPr lang="en-US" sz="2000" dirty="0"/>
              <a:t>and compare their forecasts with historical data set to identify accuracy performance measures in 2019 </a:t>
            </a:r>
          </a:p>
          <a:p>
            <a:pPr marL="0" indent="0">
              <a:buNone/>
            </a:pPr>
            <a:r>
              <a:rPr lang="en-US" sz="1800" i="1" dirty="0"/>
              <a:t>	</a:t>
            </a:r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F901E7-6923-1730-0105-C35E08A30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0" y="1524000"/>
            <a:ext cx="175260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106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6" name="Rectangle 2">
            <a:extLst>
              <a:ext uri="{FF2B5EF4-FFF2-40B4-BE49-F238E27FC236}">
                <a16:creationId xmlns:a16="http://schemas.microsoft.com/office/drawing/2014/main" id="{6D749A56-7736-4255-810F-5BEBB77F3E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150813"/>
            <a:ext cx="8888413" cy="1131887"/>
          </a:xfrm>
        </p:spPr>
        <p:txBody>
          <a:bodyPr/>
          <a:lstStyle/>
          <a:p>
            <a:r>
              <a:rPr lang="en-US" altLang="en-US" dirty="0"/>
              <a:t>Compare Performance Measures of Forecasting Models for Amtrak Ridership in 2019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2CDD09-FD4C-4581-ADCA-7B2A0401AB79}"/>
              </a:ext>
            </a:extLst>
          </p:cNvPr>
          <p:cNvSpPr/>
          <p:nvPr/>
        </p:nvSpPr>
        <p:spPr>
          <a:xfrm>
            <a:off x="1257300" y="1524000"/>
            <a:ext cx="6134100" cy="4478149"/>
          </a:xfrm>
          <a:prstGeom prst="rect">
            <a:avLst/>
          </a:prstGeom>
          <a:ln>
            <a:solidFill>
              <a:srgbClr val="FFFF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500" b="1" i="1" dirty="0">
                <a:solidFill>
                  <a:srgbClr val="0000FF"/>
                </a:solidFill>
              </a:rPr>
              <a:t>Two-Level Model (Regression with Linear Trend and Seasonality </a:t>
            </a:r>
          </a:p>
          <a:p>
            <a:pPr algn="ctr"/>
            <a:r>
              <a:rPr lang="en-US" sz="1500" b="1" i="1" dirty="0">
                <a:solidFill>
                  <a:srgbClr val="0000FF"/>
                </a:solidFill>
              </a:rPr>
              <a:t>+ Trailing MA for Regression Residuals)</a:t>
            </a:r>
          </a:p>
          <a:p>
            <a:r>
              <a:rPr lang="en-US" sz="1500" b="1" dirty="0"/>
              <a:t>               ME      RMSE      MAE     MPE   MAPE   ACF1   Theil's U</a:t>
            </a:r>
          </a:p>
          <a:p>
            <a:r>
              <a:rPr lang="en-US" sz="1500" b="1" dirty="0"/>
              <a:t>Test set -46.967  103.938    66.358  -2.05     2.746      0.693    0.482</a:t>
            </a:r>
          </a:p>
          <a:p>
            <a:endParaRPr lang="en-US" sz="1500" dirty="0"/>
          </a:p>
          <a:p>
            <a:pPr algn="ctr"/>
            <a:r>
              <a:rPr lang="en-US" sz="1500" b="1" i="1" dirty="0">
                <a:solidFill>
                  <a:srgbClr val="0000FF"/>
                </a:solidFill>
              </a:rPr>
              <a:t>Holt-Winter’s Model with Automatic Selection of Model Options and Parameters</a:t>
            </a:r>
          </a:p>
          <a:p>
            <a:r>
              <a:rPr lang="en-US" sz="1500" b="1" dirty="0"/>
              <a:t>               ME      RMSE      MAE     MPE   MAPE    ACF1   Theil's U</a:t>
            </a:r>
          </a:p>
          <a:p>
            <a:r>
              <a:rPr lang="en-US" sz="1500" b="1" dirty="0"/>
              <a:t>Test set -11.145  </a:t>
            </a:r>
            <a:r>
              <a:rPr lang="en-US" sz="1500" b="1" dirty="0">
                <a:highlight>
                  <a:srgbClr val="FFFFFF"/>
                </a:highlight>
              </a:rPr>
              <a:t>64.236 </a:t>
            </a:r>
            <a:r>
              <a:rPr lang="en-US" sz="1500" b="1" dirty="0"/>
              <a:t>     55.571  -0.516  </a:t>
            </a:r>
            <a:r>
              <a:rPr lang="en-US" sz="1500" b="1" dirty="0">
                <a:highlight>
                  <a:srgbClr val="FFFFFF"/>
                </a:highlight>
              </a:rPr>
              <a:t> 2.113       </a:t>
            </a:r>
            <a:r>
              <a:rPr lang="en-US" sz="1500" b="1" dirty="0"/>
              <a:t>0.621     0.315</a:t>
            </a:r>
          </a:p>
          <a:p>
            <a:endParaRPr lang="en-US" sz="1500" b="1" dirty="0"/>
          </a:p>
          <a:p>
            <a:pPr algn="ctr"/>
            <a:r>
              <a:rPr lang="en-US" sz="1500" b="1" i="1" dirty="0">
                <a:solidFill>
                  <a:srgbClr val="0000FF"/>
                </a:solidFill>
              </a:rPr>
              <a:t>Two-Level Model (Regression with Linear Trend and Seasonality </a:t>
            </a:r>
          </a:p>
          <a:p>
            <a:pPr algn="ctr"/>
            <a:r>
              <a:rPr lang="en-US" sz="1500" b="1" i="1" dirty="0">
                <a:solidFill>
                  <a:srgbClr val="0000FF"/>
                </a:solidFill>
              </a:rPr>
              <a:t>+ AR(1) for Regression Residuals)</a:t>
            </a:r>
          </a:p>
          <a:p>
            <a:r>
              <a:rPr lang="en-US" sz="1500" b="1" dirty="0"/>
              <a:t>                ME     RMSE       MAE     MPE   MAPE   ACF1   Theil's U</a:t>
            </a:r>
          </a:p>
          <a:p>
            <a:r>
              <a:rPr lang="en-US" sz="1500" b="1" dirty="0"/>
              <a:t>Test set </a:t>
            </a:r>
            <a:r>
              <a:rPr lang="en-US" altLang="en-US" sz="1500" b="1" dirty="0">
                <a:solidFill>
                  <a:srgbClr val="000000"/>
                </a:solidFill>
                <a:latin typeface="+mn-lt"/>
              </a:rPr>
              <a:t>-10.335  78.112       57.236  -0.637   2.298      0.645    0.374	</a:t>
            </a:r>
            <a:endParaRPr lang="en-US" sz="1500" b="1" i="1" dirty="0">
              <a:solidFill>
                <a:srgbClr val="0000FF"/>
              </a:solidFill>
            </a:endParaRPr>
          </a:p>
          <a:p>
            <a:endParaRPr lang="en-US" sz="1500" b="1" i="1" dirty="0">
              <a:solidFill>
                <a:srgbClr val="0000FF"/>
              </a:solidFill>
            </a:endParaRPr>
          </a:p>
          <a:p>
            <a:pPr algn="ctr"/>
            <a:r>
              <a:rPr lang="en-US" sz="1500" b="1" i="1" dirty="0">
                <a:solidFill>
                  <a:srgbClr val="0000FF"/>
                </a:solidFill>
              </a:rPr>
              <a:t>Auto ARIMA Model </a:t>
            </a:r>
          </a:p>
          <a:p>
            <a:r>
              <a:rPr lang="en-US" sz="1500" b="1" i="1" dirty="0">
                <a:solidFill>
                  <a:srgbClr val="0000FF"/>
                </a:solidFill>
              </a:rPr>
              <a:t>                </a:t>
            </a:r>
            <a:r>
              <a:rPr lang="en-US" sz="1500" b="1" dirty="0"/>
              <a:t>ME      RMSE      MAE     MPE   MAPE   ACF1   Theil's U</a:t>
            </a:r>
          </a:p>
          <a:p>
            <a:r>
              <a:rPr lang="en-US" sz="1500" b="1" dirty="0"/>
              <a:t>Test set   3.758    </a:t>
            </a:r>
            <a:r>
              <a:rPr lang="en-US" sz="1500" b="1" dirty="0">
                <a:highlight>
                  <a:srgbClr val="FFFF00"/>
                </a:highlight>
              </a:rPr>
              <a:t>51.153</a:t>
            </a:r>
            <a:r>
              <a:rPr lang="en-US" sz="1500" b="1" dirty="0"/>
              <a:t>      45.535    0.011   </a:t>
            </a:r>
            <a:r>
              <a:rPr lang="en-US" sz="1500" b="1" dirty="0">
                <a:highlight>
                  <a:srgbClr val="FFFF00"/>
                </a:highlight>
              </a:rPr>
              <a:t>1.751</a:t>
            </a:r>
            <a:r>
              <a:rPr lang="en-US" sz="1500" b="1" dirty="0"/>
              <a:t>      0.33      0.236</a:t>
            </a:r>
          </a:p>
          <a:p>
            <a:endParaRPr lang="en-US" sz="1500" b="1" i="1" dirty="0">
              <a:solidFill>
                <a:srgbClr val="0000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730283-A58D-23C2-F4E2-AEC13997E207}"/>
              </a:ext>
            </a:extLst>
          </p:cNvPr>
          <p:cNvSpPr/>
          <p:nvPr/>
        </p:nvSpPr>
        <p:spPr bwMode="auto">
          <a:xfrm>
            <a:off x="1295400" y="1752600"/>
            <a:ext cx="5638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0ADE1E-DA0F-35DA-78D2-DDE7CFE48F48}"/>
              </a:ext>
            </a:extLst>
          </p:cNvPr>
          <p:cNvSpPr/>
          <p:nvPr/>
        </p:nvSpPr>
        <p:spPr bwMode="auto">
          <a:xfrm>
            <a:off x="9296400" y="3429000"/>
            <a:ext cx="9144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B5D219-5A32-A1CA-93F8-B12C15D806CB}"/>
              </a:ext>
            </a:extLst>
          </p:cNvPr>
          <p:cNvSpPr/>
          <p:nvPr/>
        </p:nvSpPr>
        <p:spPr bwMode="auto">
          <a:xfrm>
            <a:off x="1295400" y="1676400"/>
            <a:ext cx="5715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5497945"/>
      </p:ext>
    </p:extLst>
  </p:cSld>
  <p:clrMapOvr>
    <a:masterClrMapping/>
  </p:clrMapOvr>
</p:sld>
</file>

<file path=ppt/theme/theme1.xml><?xml version="1.0" encoding="utf-8"?>
<a:theme xmlns:a="http://schemas.openxmlformats.org/drawingml/2006/main" name="Ch1">
  <a:themeElements>
    <a:clrScheme name="">
      <a:dk1>
        <a:srgbClr val="000000"/>
      </a:dk1>
      <a:lt1>
        <a:srgbClr val="FFFFFF"/>
      </a:lt1>
      <a:dk2>
        <a:srgbClr val="081D58"/>
      </a:dk2>
      <a:lt2>
        <a:srgbClr val="9234DB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Ch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Ch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48B3D"/>
    </a:lt1>
    <a:dk2>
      <a:srgbClr val="081D58"/>
    </a:dk2>
    <a:lt2>
      <a:srgbClr val="9234DB"/>
    </a:lt2>
    <a:accent1>
      <a:srgbClr val="FC0128"/>
    </a:accent1>
    <a:accent2>
      <a:srgbClr val="063DE8"/>
    </a:accent2>
    <a:accent3>
      <a:srgbClr val="F8C4AF"/>
    </a:accent3>
    <a:accent4>
      <a:srgbClr val="000000"/>
    </a:accent4>
    <a:accent5>
      <a:srgbClr val="FDAAAC"/>
    </a:accent5>
    <a:accent6>
      <a:srgbClr val="0536D2"/>
    </a:accent6>
    <a:hlink>
      <a:srgbClr val="00DFCA"/>
    </a:hlink>
    <a:folHlink>
      <a:srgbClr val="EAEC5E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D:\McGraw Hill Powerpoint Slides\Ch1.ppt</Template>
  <TotalTime>274520948</TotalTime>
  <Pages>18</Pages>
  <Words>500</Words>
  <Application>Microsoft Office PowerPoint</Application>
  <PresentationFormat>On-screen Show (4:3)</PresentationFormat>
  <Paragraphs>74</Paragraphs>
  <Slides>6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Book Antiqua</vt:lpstr>
      <vt:lpstr>Monotype Sorts</vt:lpstr>
      <vt:lpstr>Symbol</vt:lpstr>
      <vt:lpstr>Times New Roman</vt:lpstr>
      <vt:lpstr>Wingdings</vt:lpstr>
      <vt:lpstr>Ch1</vt:lpstr>
      <vt:lpstr>Clip</vt:lpstr>
      <vt:lpstr>California State University, East Bay College of Business and Economics  BAN 673 Time Series Analytics</vt:lpstr>
      <vt:lpstr>Lecture Objectives</vt:lpstr>
      <vt:lpstr>Four Best Models for Forecasting Amtrak Ridership</vt:lpstr>
      <vt:lpstr>Compare Performance Measures of Forecasting Models for Amtrak Ridership</vt:lpstr>
      <vt:lpstr>Amtrak Ridership: Historical Data Set for 2019 and Time Series Forecasting for 2019</vt:lpstr>
      <vt:lpstr>Compare Performance Measures of Forecasting Models for Amtrak Ridership in 2019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Production  and Operations Management: Manufacturing and  Services</dc:title>
  <dc:subject/>
  <dc:creator>Zinovy Radovilsky</dc:creator>
  <cp:keywords/>
  <dc:description/>
  <cp:lastModifiedBy>Zinovy Radovilsky</cp:lastModifiedBy>
  <cp:revision>512</cp:revision>
  <cp:lastPrinted>1997-10-07T20:29:34Z</cp:lastPrinted>
  <dcterms:created xsi:type="dcterms:W3CDTF">1997-10-07T17:24:18Z</dcterms:created>
  <dcterms:modified xsi:type="dcterms:W3CDTF">2023-02-28T20:40:55Z</dcterms:modified>
</cp:coreProperties>
</file>